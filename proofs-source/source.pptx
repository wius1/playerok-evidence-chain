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7B8414-E305-144A-C409-30B409E50037}" name="wius" initials="w" userId="wiu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D02EA-67C7-B6B7-2913-7D76F8A01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3E7D58-D1EF-641B-6BC0-F10587E4F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24A0E4-5D6C-8F9E-ECFF-F3DA9E91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4EE49C-52D0-FDA1-FF1C-6625AA5A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7B5A11-59DD-0D19-5E91-E0CD6FFD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82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78988-9288-F303-6481-27760183B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9393E9-2EF5-CA8A-0577-60E132719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791559-D150-EE19-54D5-2C45B783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D04C9D-20DC-B90D-65D6-C1828548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CD4A03-F57C-4FB2-6B4F-20F79ACF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6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38991-E89A-9B93-EEC4-3E6084CAC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CFAC86-037E-4D9B-7E91-FAB88B6FE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1B6AF1-336F-C191-4A9B-8A52D6F3B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1F902-4673-E6B2-98F8-310D4106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44928-E5D8-DF4E-0E8F-C76C49FF3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75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752CF-AFE7-E72D-B1C6-E2E87AF6C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D3FEF0-1E70-F2FF-DA59-FEA8FFF2F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0D6F7C-E409-4FCE-1F6C-E592975DC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23AF86-D556-DCAF-D36B-299F0B24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13ACC5-0F37-C4BF-F8F6-5ABB7718B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479345-AA72-795C-CB26-3EDAF742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0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C0A69-3857-79A4-3D24-24A4FF51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5B7A1-BC60-0BB6-21C6-EBECE6859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9E695D-BDF2-3C40-AB78-66541E47C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77D3BE-E88D-352A-F6FA-F6840C20F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1DFE47-1216-2462-B223-E9A310288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455E828-1CDC-3182-5E0B-EC2F2A96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01A2E00-72A1-29E5-06AF-A6021593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A11544-1D4A-AE5F-9F75-99467C37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49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710C7-9B16-8952-4C07-D291C584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BF4A47-5F7D-DEA6-7704-875F4DBF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6091811-CDA5-47F9-F821-3BAC8465C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158FC7-CBD8-DB4E-F16A-0FE646F2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142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D15F6B-B42E-C6CC-FF07-D39F3690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2E0F8B-9264-B1F3-6FF1-B19FA0AD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F8F0B1-9BF2-63D1-5749-B0638977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265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01957-B2FD-0693-9AF9-ED8BD0DD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0614E7-122D-954D-02CB-E201D735F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44B37C-616E-859D-21A7-5A2D3B100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130B38-57B9-46B5-ACFA-3EFE9BF4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101659-82C8-BC51-C339-67C9F7517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D62273-7A04-2B53-B650-33D5217D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22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171E0-F399-9216-B57F-A969521F0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DB7BDDE-9F95-BECA-4A08-AC7E55173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0227AA-FBC9-566D-35AD-274077A87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25ACC5-CA90-71A1-3AF9-7F45968DB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E403DD-C895-0B75-8681-C4D2132F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683574-94E1-BD9F-F0C6-A13BB8F6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35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55418-DB28-5225-FF93-42A894F4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4F4B66-EB71-C58A-B67C-2DC74242D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A6115F-B7C9-0066-596A-E789C841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FA5452-2B33-032E-7744-240C47CD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BCFCCE-AF21-71C7-2587-B232D903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21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10008D-8C6C-7D0C-D3B1-15E7F636E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CE716D-6E6D-AF64-2C39-B9D9642B4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B4F421-2A81-714B-D6E6-F2881C2C4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F1C0CF-B37C-F3F5-3E79-E6C3FE75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CBF77E-3CD9-7CCD-EDBB-556C28B0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46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ADB67-2256-187C-18D3-FAB2F40C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99EAD7-0693-EFD7-8B18-2666B842D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A283CE-6FBF-8EDF-83ED-06B6BA589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94D7C-3B28-4F04-8868-BCE16F06D647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AFB8D-1F74-071C-0FD3-107292F89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F032EE-B6EC-5BC8-3D69-B967F183C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01F4C-FDC0-4F59-8821-341AC76D4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20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playerok.com/profile/VSTSHOP" TargetMode="External"/><Relationship Id="rId4" Type="http://schemas.openxmlformats.org/officeDocument/2006/relationships/hyperlink" Target="https://playerok.com/profile/CDSHOPVS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avito.ru/brands/i224188684" TargetMode="External"/><Relationship Id="rId7" Type="http://schemas.openxmlformats.org/officeDocument/2006/relationships/image" Target="../media/image4.png"/><Relationship Id="rId2" Type="http://schemas.openxmlformats.org/officeDocument/2006/relationships/hyperlink" Target="playerok.com/profile/CDSHOPVS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plati.market/seller/vst-shop/1345625/" TargetMode="External"/><Relationship Id="rId4" Type="http://schemas.openxmlformats.org/officeDocument/2006/relationships/hyperlink" Target="ggsel.net/sellers/1345625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playerok.com/profile/CDSHOPVST" TargetMode="External"/><Relationship Id="rId7" Type="http://schemas.openxmlformats.org/officeDocument/2006/relationships/image" Target="../media/image8.png"/><Relationship Id="rId2" Type="http://schemas.openxmlformats.org/officeDocument/2006/relationships/hyperlink" Target="avito.ru/brands/i22418868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playerok.com/products/d7d6d30a4a13-splice-sounds-2-mesyaca-200-kreditsov" TargetMode="External"/><Relationship Id="rId4" Type="http://schemas.openxmlformats.org/officeDocument/2006/relationships/hyperlink" Target="https://www.avito.ru/moskva/igry_pristavki_i_programmy/splice_soundpodpiska_2_mesyatsa_7913336409?context=H4sIAAAAAAAA_wE_AMD_YToyOntzOjEzOiJsb2NhbFByaW9yaXR5IjtiOjA7czoxOiJ4IjtzOjE2OiIyM2xwQzNFcmFNWm8xVmlVIjt9wXgceD8AAAA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ggsel.net/sellers/1345625" TargetMode="External"/><Relationship Id="rId7" Type="http://schemas.openxmlformats.org/officeDocument/2006/relationships/hyperlink" Target="https://ggsel.net/catalog/product/izotope-ozone-tonal-balance-control-2-5456015" TargetMode="External"/><Relationship Id="rId2" Type="http://schemas.openxmlformats.org/officeDocument/2006/relationships/hyperlink" Target="plati.market/seller/vst-shop/1345625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ti.market/itm/izotope-tonal-balance-control-2-fast-delivery/5186473" TargetMode="External"/><Relationship Id="rId5" Type="http://schemas.openxmlformats.org/officeDocument/2006/relationships/hyperlink" Target="avito.ru/brands/i224188684" TargetMode="External"/><Relationship Id="rId4" Type="http://schemas.openxmlformats.org/officeDocument/2006/relationships/hyperlink" Target="playerok.com/profile/CDSHOPVST" TargetMode="Externa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avito.ru/brands/i224188684" TargetMode="External"/><Relationship Id="rId7" Type="http://schemas.openxmlformats.org/officeDocument/2006/relationships/image" Target="../media/image4.png"/><Relationship Id="rId2" Type="http://schemas.openxmlformats.org/officeDocument/2006/relationships/hyperlink" Target="playerok.com/profile/CDSHOPVS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plati.market/seller/vst-shop/1345625/" TargetMode="External"/><Relationship Id="rId4" Type="http://schemas.openxmlformats.org/officeDocument/2006/relationships/hyperlink" Target="ggsel.net/sellers/1345625" TargetMode="Externa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avito.ru/brands/i224188684" TargetMode="External"/><Relationship Id="rId7" Type="http://schemas.openxmlformats.org/officeDocument/2006/relationships/image" Target="../media/image3.png"/><Relationship Id="rId2" Type="http://schemas.openxmlformats.org/officeDocument/2006/relationships/hyperlink" Target="playerok.com/profile/VSTSHO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plati.market/seller/vst-shop/1345625/" TargetMode="External"/><Relationship Id="rId11" Type="http://schemas.openxmlformats.org/officeDocument/2006/relationships/image" Target="../media/image11.png"/><Relationship Id="rId5" Type="http://schemas.openxmlformats.org/officeDocument/2006/relationships/hyperlink" Target="playerok.com/profile/CDSHOPVST" TargetMode="External"/><Relationship Id="rId10" Type="http://schemas.openxmlformats.org/officeDocument/2006/relationships/image" Target="../media/image6.png"/><Relationship Id="rId4" Type="http://schemas.openxmlformats.org/officeDocument/2006/relationships/hyperlink" Target="ggsel.net/sellers/1345625" TargetMode="Externa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playerok.com/profile/VSTSHOP" TargetMode="External"/><Relationship Id="rId2" Type="http://schemas.openxmlformats.org/officeDocument/2006/relationships/hyperlink" Target="playerok.com/profile/CDSHOPVS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yerok.com/profile/GERTSSSS/product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playerok.com/profile/CDSHOPVST" TargetMode="External"/><Relationship Id="rId2" Type="http://schemas.openxmlformats.org/officeDocument/2006/relationships/hyperlink" Target="playerok.com/profile/VSTSHO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plati.market/itm/sonnox-voxdoubler-ilok-key/5058204" TargetMode="External"/><Relationship Id="rId13" Type="http://schemas.openxmlformats.org/officeDocument/2006/relationships/hyperlink" Target="https://ggsel.net/catalog/product/relab-lx480-essential-oficialnyi-kliuc-5456039" TargetMode="External"/><Relationship Id="rId18" Type="http://schemas.openxmlformats.org/officeDocument/2006/relationships/hyperlink" Target="https://www.avito.ru/moskva/muzykalnye_instrumenty/fabfilter_pro-q4_total_bundle_litsenziya_8200960041?context=H4sIAAAAAAAA_wE_AMD_YToyOntzOjEzOiJsb2NhbFByaW9yaXR5IjtiOjA7czoxOiJ4IjtzOjE2OiJMaWs5Sm9jSDVwWEpGRHdiIjt9P-JtSD8AAAA" TargetMode="External"/><Relationship Id="rId26" Type="http://schemas.openxmlformats.org/officeDocument/2006/relationships/hyperlink" Target="https://plati.market/itm/melodyne-5-essential-official-key/5058164" TargetMode="External"/><Relationship Id="rId3" Type="http://schemas.openxmlformats.org/officeDocument/2006/relationships/hyperlink" Target="https://playerok.com/products/d3625c04944f-splice-sounds-300-kreditov----3-mesyaca-na-lyuboy-akkaunt" TargetMode="External"/><Relationship Id="rId21" Type="http://schemas.openxmlformats.org/officeDocument/2006/relationships/hyperlink" Target="https://www.avito.ru/moskva/muzykalnye_instrumenty/t-racks_5_se_vstauaax_litsenziya_8233045508?context=H4sIAAAAAAAA_wE_AMD_YToyOntzOjEzOiJsb2NhbFByaW9yaXR5IjtiOjA7czoxOiJ4IjtzOjE2OiJMaWs5Sm9jSDVwWEpGRHdiIjt9P-JtSD8AAAA" TargetMode="External"/><Relationship Id="rId7" Type="http://schemas.openxmlformats.org/officeDocument/2006/relationships/hyperlink" Target="https://playerok.com/products/0b704b09cc76-sonnox-voxdoubler-ilok-key" TargetMode="External"/><Relationship Id="rId12" Type="http://schemas.openxmlformats.org/officeDocument/2006/relationships/hyperlink" Target="https://plati.market/itm/relab-lx480-essential-official-key/5058182" TargetMode="External"/><Relationship Id="rId17" Type="http://schemas.openxmlformats.org/officeDocument/2006/relationships/hyperlink" Target="https://plati.market/itm/fabfilter-total-bundle-official-key/5079205" TargetMode="External"/><Relationship Id="rId25" Type="http://schemas.openxmlformats.org/officeDocument/2006/relationships/hyperlink" Target="https://playerok.com/products/6fd745d9b0c4-melodyne-5-essential-na-lyuboy-akkaunt" TargetMode="External"/><Relationship Id="rId2" Type="http://schemas.openxmlformats.org/officeDocument/2006/relationships/hyperlink" Target="playerok.com/profile/VSTSHOP" TargetMode="External"/><Relationship Id="rId16" Type="http://schemas.openxmlformats.org/officeDocument/2006/relationships/hyperlink" Target="https://playerok.com/products/b3589918bad5-fabfilter-total-bundle-oficialnyy-klyuch" TargetMode="External"/><Relationship Id="rId20" Type="http://schemas.openxmlformats.org/officeDocument/2006/relationships/hyperlink" Target="https://plati.market/itm/ik-multimedia-t-racks-5-se-official-key/505822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vito.ru/moskva/muzykalnye_instrumenty/splice_soundpodpiska_90_dney_seply_8201332352" TargetMode="External"/><Relationship Id="rId11" Type="http://schemas.openxmlformats.org/officeDocument/2006/relationships/hyperlink" Target="https://playerok.com/products/e31eeb5af05a-relab-lx480-essential" TargetMode="External"/><Relationship Id="rId24" Type="http://schemas.openxmlformats.org/officeDocument/2006/relationships/hyperlink" Target="https://www.avito.ru/moskva/muzykalnye_instrumenty/antares_duo_litsenziya_8233366653?context=H4sIAAAAAAAA_wE_AMD_YToyOntzOjEzOiJsb2NhbFByaW9yaXR5IjtiOjA7czoxOiJ4IjtzOjE2OiJMaWs5Sm9jSDVwWEpGRHdiIjt9P-JtSD8AAAA" TargetMode="External"/><Relationship Id="rId5" Type="http://schemas.openxmlformats.org/officeDocument/2006/relationships/hyperlink" Target="https://ggsel.net/catalog/product/splice-sounds-creator-1-3-mesiaca-5456003" TargetMode="External"/><Relationship Id="rId15" Type="http://schemas.openxmlformats.org/officeDocument/2006/relationships/hyperlink" Target="https://plati.market/itm/air-bundle-20-plaginov-xpandl-2-key-for-ilok/5073758" TargetMode="External"/><Relationship Id="rId23" Type="http://schemas.openxmlformats.org/officeDocument/2006/relationships/hyperlink" Target="https://plati.market/itm/auto-tune-duo-official-key/5058132" TargetMode="External"/><Relationship Id="rId10" Type="http://schemas.openxmlformats.org/officeDocument/2006/relationships/hyperlink" Target="https://plati.market/itm/native-instruments-massive-official-key/5058141" TargetMode="External"/><Relationship Id="rId19" Type="http://schemas.openxmlformats.org/officeDocument/2006/relationships/hyperlink" Target="https://playerok.com/products/2fd2f3695726-ik-multimedia-t-racks-5-se-oficialnyy-klyuch" TargetMode="External"/><Relationship Id="rId4" Type="http://schemas.openxmlformats.org/officeDocument/2006/relationships/hyperlink" Target="https://plati.market/itm/splice-subscription-fast-sounds-creator-1-3-months/5453366" TargetMode="External"/><Relationship Id="rId9" Type="http://schemas.openxmlformats.org/officeDocument/2006/relationships/hyperlink" Target="https://playerok.com/products/f779bdcfcd7b-native-instruments-massive-oficialnyy-klyuch" TargetMode="External"/><Relationship Id="rId14" Type="http://schemas.openxmlformats.org/officeDocument/2006/relationships/hyperlink" Target="https://playerok.com/products/f49802ceb958-air-bundle-20-plaginov-xpandl-2-klyuch-dlya-ilok" TargetMode="External"/><Relationship Id="rId22" Type="http://schemas.openxmlformats.org/officeDocument/2006/relationships/hyperlink" Target="https://playerok.com/products/f149f5eb3494-auto-tune-duo-oficialnyy-klyuch" TargetMode="External"/><Relationship Id="rId27" Type="http://schemas.openxmlformats.org/officeDocument/2006/relationships/hyperlink" Target="https://ggsel.net/catalog/product/melodyne-5-essential-oficialnyi-kliuc-5456053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playerok.com/profile/VSTSHOP" TargetMode="External"/><Relationship Id="rId2" Type="http://schemas.openxmlformats.org/officeDocument/2006/relationships/hyperlink" Target="plati.market/seller/vst-shop/1345625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ggsel.net/sellers/1345625" TargetMode="External"/><Relationship Id="rId7" Type="http://schemas.openxmlformats.org/officeDocument/2006/relationships/image" Target="../media/image6.png"/><Relationship Id="rId2" Type="http://schemas.openxmlformats.org/officeDocument/2006/relationships/hyperlink" Target="playerok.com/profile/VSTSHO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hyperlink" Target="plati.market/seller/vst-shop/1345625/" TargetMode="External"/><Relationship Id="rId9" Type="http://schemas.openxmlformats.org/officeDocument/2006/relationships/hyperlink" Target="playerok.com/profile/CDSHOPVS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playerok.com/profile/CDSHOPVST" TargetMode="External"/><Relationship Id="rId2" Type="http://schemas.openxmlformats.org/officeDocument/2006/relationships/hyperlink" Target="playerok.com/profile/VSTSHO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playerok.com/profile/CDSHOPVST" TargetMode="External"/><Relationship Id="rId2" Type="http://schemas.openxmlformats.org/officeDocument/2006/relationships/hyperlink" Target="playerok.com/profile/VSTSHO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ggsel.net/sellers/1345625" TargetMode="External"/><Relationship Id="rId7" Type="http://schemas.openxmlformats.org/officeDocument/2006/relationships/image" Target="../media/image4.png"/><Relationship Id="rId2" Type="http://schemas.openxmlformats.org/officeDocument/2006/relationships/hyperlink" Target="avito.ru/brands/i22418868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openxmlformats.org/officeDocument/2006/relationships/hyperlink" Target="plati.market/seller/vst-shop/1345625/" TargetMode="External"/><Relationship Id="rId10" Type="http://schemas.openxmlformats.org/officeDocument/2006/relationships/hyperlink" Target="playerok.com/profile/VSTSHOP" TargetMode="External"/><Relationship Id="rId4" Type="http://schemas.openxmlformats.org/officeDocument/2006/relationships/hyperlink" Target="playerok.com/profile/CDSHOPVST" TargetMode="External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E587D5-1703-6CA3-D519-7595E74FB5C5}"/>
              </a:ext>
            </a:extLst>
          </p:cNvPr>
          <p:cNvSpPr txBox="1"/>
          <p:nvPr/>
        </p:nvSpPr>
        <p:spPr>
          <a:xfrm>
            <a:off x="657877" y="1216479"/>
            <a:ext cx="108762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Доказательства принадлежности </a:t>
            </a:r>
            <a:r>
              <a:rPr lang="en-US" sz="3200" dirty="0"/>
              <a:t>VSTSHOP </a:t>
            </a:r>
            <a:r>
              <a:rPr lang="ru-RU" sz="3200" dirty="0"/>
              <a:t>и </a:t>
            </a:r>
            <a:r>
              <a:rPr lang="en-US" sz="3200" dirty="0"/>
              <a:t>CDSHOPVST</a:t>
            </a:r>
          </a:p>
          <a:p>
            <a:pPr algn="ctr"/>
            <a:r>
              <a:rPr lang="ru-RU" sz="3200" dirty="0"/>
              <a:t>одному владельцу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797779-D106-669F-BB32-4EC245B43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2971797"/>
            <a:ext cx="2847975" cy="8096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29EEF8-39F9-1050-1D9F-68A2C8ADA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4185"/>
            <a:ext cx="2943225" cy="704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3C2E50-9B0D-126C-9F45-B54C83C0448A}"/>
              </a:ext>
            </a:extLst>
          </p:cNvPr>
          <p:cNvSpPr txBox="1"/>
          <p:nvPr/>
        </p:nvSpPr>
        <p:spPr>
          <a:xfrm>
            <a:off x="2491487" y="3935068"/>
            <a:ext cx="360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playerok.com/profile/CDSHOPVST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5657F4-4085-5663-DC59-23F36FA92FD5}"/>
              </a:ext>
            </a:extLst>
          </p:cNvPr>
          <p:cNvSpPr txBox="1"/>
          <p:nvPr/>
        </p:nvSpPr>
        <p:spPr>
          <a:xfrm>
            <a:off x="6096000" y="3935068"/>
            <a:ext cx="3346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playerok.com/profile/VSTSHOP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038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18E71-B60B-32A8-4AF9-7F80EF92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ru-RU" dirty="0"/>
              <a:t>Доказательства связи </a:t>
            </a:r>
            <a:r>
              <a:rPr lang="en-US" dirty="0" err="1"/>
              <a:t>PlayerOK</a:t>
            </a:r>
            <a:r>
              <a:rPr lang="en-US" dirty="0"/>
              <a:t>/</a:t>
            </a:r>
            <a:r>
              <a:rPr lang="en-US" dirty="0">
                <a:hlinkClick r:id="rId2"/>
              </a:rPr>
              <a:t>CDSHOPVST</a:t>
            </a:r>
            <a:r>
              <a:rPr lang="ru-RU" dirty="0"/>
              <a:t> с магазинами с </a:t>
            </a:r>
            <a:r>
              <a:rPr lang="ru-RU" dirty="0">
                <a:hlinkClick r:id="rId3"/>
              </a:rPr>
              <a:t>Авито</a:t>
            </a:r>
            <a:r>
              <a:rPr lang="ru-RU" dirty="0"/>
              <a:t>, </a:t>
            </a:r>
            <a:r>
              <a:rPr lang="en-US" dirty="0" err="1">
                <a:hlinkClick r:id="rId4"/>
              </a:rPr>
              <a:t>GGSel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>
                <a:hlinkClick r:id="rId5"/>
              </a:rPr>
              <a:t>Plati.Market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88417C5-B896-2248-2999-3A6D46F74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53721"/>
              </p:ext>
            </p:extLst>
          </p:nvPr>
        </p:nvGraphicFramePr>
        <p:xfrm>
          <a:off x="2032000" y="2287208"/>
          <a:ext cx="8128000" cy="4048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646104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3913818"/>
                    </a:ext>
                  </a:extLst>
                </a:gridCol>
              </a:tblGrid>
              <a:tr h="2024138">
                <a:tc>
                  <a:txBody>
                    <a:bodyPr/>
                    <a:lstStyle/>
                    <a:p>
                      <a:r>
                        <a:rPr lang="ru-RU" sz="2400" dirty="0">
                          <a:hlinkClick r:id="rId3"/>
                        </a:rPr>
                        <a:t>Авито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4"/>
                        </a:rPr>
                        <a:t>GGSel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6305"/>
                  </a:ext>
                </a:extLst>
              </a:tr>
              <a:tr h="2024138"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CDSHOPVST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5"/>
                        </a:rPr>
                        <a:t>Plati.Market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318109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43471E-C8BE-9488-A654-5122552DC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2851" y="2368051"/>
            <a:ext cx="1628775" cy="17430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52D560-D5BC-47EB-6878-246B7C2F25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152" y="2832182"/>
            <a:ext cx="3724656" cy="66082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80930C-E981-C1B2-B8F1-4786CDCD36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5588" y="4762510"/>
            <a:ext cx="3543300" cy="12096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DA9FE8F-AECD-C945-31C2-E825FE68BD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9152" y="4953009"/>
            <a:ext cx="30765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A3023-4DAC-F6B7-6D2F-04A9335AB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769"/>
            <a:ext cx="10515600" cy="1325563"/>
          </a:xfrm>
        </p:spPr>
        <p:txBody>
          <a:bodyPr/>
          <a:lstStyle/>
          <a:p>
            <a:r>
              <a:rPr lang="ru-RU" dirty="0"/>
              <a:t>1.1 Доказательства связи между </a:t>
            </a:r>
            <a:r>
              <a:rPr lang="ru-RU" dirty="0">
                <a:hlinkClick r:id="rId2"/>
              </a:rPr>
              <a:t>Авито</a:t>
            </a:r>
            <a:r>
              <a:rPr lang="ru-RU" dirty="0"/>
              <a:t> и </a:t>
            </a:r>
            <a:r>
              <a:rPr lang="en-US" dirty="0" err="1"/>
              <a:t>PlayerOK</a:t>
            </a:r>
            <a:r>
              <a:rPr lang="en-US" dirty="0"/>
              <a:t>/</a:t>
            </a:r>
            <a:r>
              <a:rPr lang="en-US" dirty="0">
                <a:hlinkClick r:id="rId3"/>
              </a:rPr>
              <a:t>CDSHOPVST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AF636E-F921-DB14-43EB-33603652A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332"/>
            <a:ext cx="10515600" cy="1367302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ru-RU" dirty="0"/>
              <a:t>Одинаковые аватарки, что видно на предыдущем слайде, практически одинаковый никнейм</a:t>
            </a:r>
          </a:p>
          <a:p>
            <a:pPr marL="514350" indent="-514350">
              <a:buAutoNum type="arabicPeriod"/>
            </a:pPr>
            <a:r>
              <a:rPr lang="ru-RU" dirty="0"/>
              <a:t>Одинаковое оформление товаров </a:t>
            </a:r>
            <a:r>
              <a:rPr lang="en-US" dirty="0"/>
              <a:t>Splice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C9AEB32-E7F7-27C8-4D2E-E159984DD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223684"/>
              </p:ext>
            </p:extLst>
          </p:nvPr>
        </p:nvGraphicFramePr>
        <p:xfrm>
          <a:off x="1395984" y="2850218"/>
          <a:ext cx="9009888" cy="3870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4944">
                  <a:extLst>
                    <a:ext uri="{9D8B030D-6E8A-4147-A177-3AD203B41FA5}">
                      <a16:colId xmlns:a16="http://schemas.microsoft.com/office/drawing/2014/main" val="1607997657"/>
                    </a:ext>
                  </a:extLst>
                </a:gridCol>
                <a:gridCol w="4504944">
                  <a:extLst>
                    <a:ext uri="{9D8B030D-6E8A-4147-A177-3AD203B41FA5}">
                      <a16:colId xmlns:a16="http://schemas.microsoft.com/office/drawing/2014/main" val="4285276419"/>
                    </a:ext>
                  </a:extLst>
                </a:gridCol>
              </a:tblGrid>
              <a:tr h="892612">
                <a:tc>
                  <a:txBody>
                    <a:bodyPr/>
                    <a:lstStyle/>
                    <a:p>
                      <a:r>
                        <a:rPr lang="ru-RU" dirty="0"/>
                        <a:t>Товар </a:t>
                      </a:r>
                      <a:r>
                        <a:rPr lang="en-US" dirty="0"/>
                        <a:t>Splice</a:t>
                      </a:r>
                      <a:r>
                        <a:rPr lang="ru-RU" dirty="0"/>
                        <a:t> у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CD SHOP </a:t>
                      </a:r>
                      <a:r>
                        <a:rPr lang="ru-RU" dirty="0"/>
                        <a:t>на Авито</a:t>
                      </a:r>
                      <a:endParaRPr lang="en-US" dirty="0"/>
                    </a:p>
                    <a:p>
                      <a:r>
                        <a:rPr lang="ru-RU" dirty="0">
                          <a:hlinkClick r:id="rId4"/>
                        </a:rPr>
                        <a:t>Ссылка на товар (клик)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 </a:t>
                      </a:r>
                      <a:r>
                        <a:rPr lang="en-US" dirty="0"/>
                        <a:t>Splice</a:t>
                      </a:r>
                      <a:r>
                        <a:rPr lang="ru-RU" dirty="0"/>
                        <a:t> у </a:t>
                      </a:r>
                      <a:r>
                        <a:rPr lang="en-US" b="1" dirty="0"/>
                        <a:t>CDSHOPVST</a:t>
                      </a:r>
                      <a:r>
                        <a:rPr lang="ru-RU" dirty="0"/>
                        <a:t> на </a:t>
                      </a:r>
                      <a:r>
                        <a:rPr lang="en-US" dirty="0" err="1"/>
                        <a:t>PlayerOK</a:t>
                      </a:r>
                      <a:endParaRPr lang="en-US" dirty="0"/>
                    </a:p>
                    <a:p>
                      <a:r>
                        <a:rPr lang="ru-RU" dirty="0">
                          <a:hlinkClick r:id="rId5"/>
                        </a:rPr>
                        <a:t>Ссылка на товар (клик)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518966"/>
                  </a:ext>
                </a:extLst>
              </a:tr>
              <a:tr h="297801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53077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156D1E-060B-F0A7-CE4F-30CADC7FC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4114" y="3762756"/>
            <a:ext cx="2190750" cy="28575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D57DE7-F603-2124-36D9-13AB4570CE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826764"/>
            <a:ext cx="2552192" cy="258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06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73FB6-E0C9-C5AD-0805-9B9E893E6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1.2 Доказательства связи </a:t>
            </a:r>
            <a:r>
              <a:rPr lang="en-US" dirty="0" err="1">
                <a:hlinkClick r:id="rId2"/>
              </a:rPr>
              <a:t>Plati.Market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+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GGSel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en-US" dirty="0" err="1"/>
              <a:t>PlayerOK</a:t>
            </a:r>
            <a:r>
              <a:rPr lang="en-US" dirty="0"/>
              <a:t>/</a:t>
            </a:r>
            <a:r>
              <a:rPr lang="en-US" dirty="0">
                <a:hlinkClick r:id="rId4"/>
              </a:rPr>
              <a:t>CDSHOPVST</a:t>
            </a:r>
            <a:r>
              <a:rPr lang="ru-RU" dirty="0"/>
              <a:t> и </a:t>
            </a:r>
            <a:r>
              <a:rPr lang="ru-RU" dirty="0">
                <a:hlinkClick r:id="rId5"/>
              </a:rPr>
              <a:t>Авито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F251B-2253-CAA7-FCE2-B69C9EA2A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867"/>
            <a:ext cx="10515600" cy="243888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2600" dirty="0"/>
              <a:t>Связь между </a:t>
            </a:r>
            <a:r>
              <a:rPr lang="en-US" sz="2600" dirty="0" err="1">
                <a:hlinkClick r:id="rId2"/>
              </a:rPr>
              <a:t>Plati.Market</a:t>
            </a:r>
            <a:r>
              <a:rPr lang="en-US" sz="2600" dirty="0">
                <a:hlinkClick r:id="rId2"/>
              </a:rPr>
              <a:t> </a:t>
            </a:r>
            <a:r>
              <a:rPr lang="en-US" sz="2600" dirty="0"/>
              <a:t>+</a:t>
            </a:r>
            <a:r>
              <a:rPr lang="en-US" sz="2600" dirty="0">
                <a:hlinkClick r:id="rId3"/>
              </a:rPr>
              <a:t> </a:t>
            </a:r>
            <a:r>
              <a:rPr lang="en-US" sz="2600" dirty="0" err="1">
                <a:hlinkClick r:id="rId3"/>
              </a:rPr>
              <a:t>GGSel</a:t>
            </a:r>
            <a:r>
              <a:rPr lang="ru-RU" sz="2600" dirty="0"/>
              <a:t> подтверждается не только общим ником, но и идентификатором </a:t>
            </a:r>
            <a:r>
              <a:rPr lang="ru-RU" sz="2600" b="1" dirty="0"/>
              <a:t>1345625</a:t>
            </a:r>
            <a:r>
              <a:rPr lang="ru-RU" sz="2600" dirty="0"/>
              <a:t> в ссылках на оба магазина – это идентификатор продавца на платформе </a:t>
            </a:r>
            <a:r>
              <a:rPr lang="en-US" sz="2600" dirty="0" err="1"/>
              <a:t>DigiSeller</a:t>
            </a:r>
            <a:r>
              <a:rPr lang="en-US" sz="2600" dirty="0"/>
              <a:t>.</a:t>
            </a:r>
          </a:p>
          <a:p>
            <a:pPr marL="514350" indent="-514350">
              <a:buAutoNum type="arabicPeriod"/>
            </a:pPr>
            <a:r>
              <a:rPr lang="ru-RU" sz="2600" dirty="0"/>
              <a:t>Всё тот же общий логотип на фото товаров</a:t>
            </a:r>
            <a:r>
              <a:rPr lang="en-US" sz="2600" dirty="0"/>
              <a:t> (</a:t>
            </a:r>
            <a:r>
              <a:rPr lang="ru-RU" sz="2600" dirty="0"/>
              <a:t>что и на аватарках </a:t>
            </a:r>
            <a:r>
              <a:rPr lang="en-US" sz="2600" dirty="0" err="1"/>
              <a:t>PlayerOK</a:t>
            </a:r>
            <a:r>
              <a:rPr lang="en-US" sz="2600" dirty="0"/>
              <a:t>/</a:t>
            </a:r>
            <a:r>
              <a:rPr lang="en-US" sz="2600" dirty="0">
                <a:hlinkClick r:id="rId4"/>
              </a:rPr>
              <a:t>CDSHOPVST</a:t>
            </a:r>
            <a:r>
              <a:rPr lang="ru-RU" sz="2600" dirty="0"/>
              <a:t> и </a:t>
            </a:r>
            <a:r>
              <a:rPr lang="ru-RU" sz="2600" dirty="0">
                <a:hlinkClick r:id="rId5"/>
              </a:rPr>
              <a:t>Авито</a:t>
            </a:r>
            <a:r>
              <a:rPr lang="ru-RU" sz="2600" dirty="0"/>
              <a:t>. </a:t>
            </a:r>
            <a:br>
              <a:rPr lang="ru-RU" sz="2600" dirty="0"/>
            </a:br>
            <a:r>
              <a:rPr lang="ru-RU" sz="2600" dirty="0"/>
              <a:t>Ниже - один из множества примеров</a:t>
            </a:r>
            <a:r>
              <a:rPr lang="en-US" sz="2600" dirty="0"/>
              <a:t>: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0E6A712-826D-66FF-2E11-59BD8C3D8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62762"/>
              </p:ext>
            </p:extLst>
          </p:nvPr>
        </p:nvGraphicFramePr>
        <p:xfrm>
          <a:off x="2032000" y="3709754"/>
          <a:ext cx="8128000" cy="29927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507094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28312538"/>
                    </a:ext>
                  </a:extLst>
                </a:gridCol>
              </a:tblGrid>
              <a:tr h="43644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6"/>
                        </a:rPr>
                        <a:t>Plati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hlinkClick r:id="rId7"/>
                        </a:rPr>
                        <a:t>GGSel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974002"/>
                  </a:ext>
                </a:extLst>
              </a:tr>
              <a:tr h="255635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028167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060309-C7DF-7F30-28D0-53152D49C1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1032" y="4218578"/>
            <a:ext cx="3159371" cy="236510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14AF87-D04B-827C-A5FB-DD71060F1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4203" y="4218578"/>
            <a:ext cx="2331724" cy="236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37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69C24-9057-D474-924B-7A163DC4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61"/>
            <a:ext cx="10515600" cy="611968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 по главе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0937C3-35A7-109A-FE69-E5B130541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6429"/>
            <a:ext cx="10515600" cy="2040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Исходя из главы 1 мы выяснили по ряду признаков, что</a:t>
            </a:r>
            <a:r>
              <a:rPr lang="en-US" dirty="0"/>
              <a:t> </a:t>
            </a:r>
            <a:r>
              <a:rPr lang="ru-RU" dirty="0"/>
              <a:t>магазины </a:t>
            </a:r>
            <a:r>
              <a:rPr lang="en-US" dirty="0" err="1"/>
              <a:t>PlayerOK</a:t>
            </a:r>
            <a:r>
              <a:rPr lang="en-US" dirty="0"/>
              <a:t>/</a:t>
            </a:r>
            <a:r>
              <a:rPr lang="en-US" dirty="0">
                <a:hlinkClick r:id="rId2"/>
              </a:rPr>
              <a:t>CDSHOPVST</a:t>
            </a:r>
            <a:r>
              <a:rPr lang="ru-RU" dirty="0"/>
              <a:t>, </a:t>
            </a:r>
            <a:r>
              <a:rPr lang="ru-RU" dirty="0">
                <a:hlinkClick r:id="rId3"/>
              </a:rPr>
              <a:t>Авито</a:t>
            </a:r>
            <a:r>
              <a:rPr lang="ru-RU" dirty="0"/>
              <a:t>, </a:t>
            </a:r>
            <a:r>
              <a:rPr lang="en-US" dirty="0" err="1">
                <a:hlinkClick r:id="rId4"/>
              </a:rPr>
              <a:t>GGSel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>
                <a:hlinkClick r:id="rId5"/>
              </a:rPr>
              <a:t>Plati.Market</a:t>
            </a:r>
            <a:r>
              <a:rPr lang="ru-RU" dirty="0"/>
              <a:t> принадлежат одному и тому же лицу. </a:t>
            </a:r>
            <a:endParaRPr lang="en-US" dirty="0"/>
          </a:p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В дальнейшем, дабы избежать путаницы, буду называть группу этих магазинов </a:t>
            </a:r>
            <a:r>
              <a:rPr lang="en-US" b="1" dirty="0">
                <a:solidFill>
                  <a:srgbClr val="C00000"/>
                </a:solidFill>
              </a:rPr>
              <a:t>“</a:t>
            </a:r>
            <a:r>
              <a:rPr lang="ru-RU" b="1" dirty="0">
                <a:solidFill>
                  <a:srgbClr val="C00000"/>
                </a:solidFill>
              </a:rPr>
              <a:t>группа </a:t>
            </a:r>
            <a:r>
              <a:rPr lang="en-US" b="1" dirty="0">
                <a:solidFill>
                  <a:srgbClr val="C00000"/>
                </a:solidFill>
              </a:rPr>
              <a:t>CDSHOP”</a:t>
            </a:r>
            <a:endParaRPr lang="ru-RU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8A005C0-D38E-9CE7-2B6F-AAA44FB90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750594"/>
              </p:ext>
            </p:extLst>
          </p:nvPr>
        </p:nvGraphicFramePr>
        <p:xfrm>
          <a:off x="1693672" y="2735264"/>
          <a:ext cx="8128000" cy="4048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646104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3913818"/>
                    </a:ext>
                  </a:extLst>
                </a:gridCol>
              </a:tblGrid>
              <a:tr h="2024138">
                <a:tc>
                  <a:txBody>
                    <a:bodyPr/>
                    <a:lstStyle/>
                    <a:p>
                      <a:r>
                        <a:rPr lang="ru-RU" sz="2400" dirty="0">
                          <a:hlinkClick r:id="rId3"/>
                        </a:rPr>
                        <a:t>Авито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4"/>
                        </a:rPr>
                        <a:t>GGSel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6305"/>
                  </a:ext>
                </a:extLst>
              </a:tr>
              <a:tr h="2024138"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CDSHOPVST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5"/>
                        </a:rPr>
                        <a:t>Plati.Market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318109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E2CFE1-6A12-4DC5-1621-8EB04E934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4523" y="2816107"/>
            <a:ext cx="1628775" cy="17430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5D5D15C-D810-3A61-9A10-862F2EA848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0824" y="3280238"/>
            <a:ext cx="3724656" cy="66082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213C05A-C0C1-5D45-1A87-C51C27A99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7260" y="5210566"/>
            <a:ext cx="3543300" cy="12096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D9DCE7-B6DB-C426-C4FA-73D4767E0E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0824" y="5401065"/>
            <a:ext cx="30765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1B905-532D-000E-D8C9-13526C037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173101"/>
            <a:ext cx="1135684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ru-RU" dirty="0"/>
              <a:t>Доказательства того, что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br>
              <a:rPr lang="en-US" dirty="0"/>
            </a:br>
            <a:r>
              <a:rPr lang="ru-RU" dirty="0"/>
              <a:t>принадлежит тому же лицу, что и </a:t>
            </a:r>
            <a:r>
              <a:rPr lang="en-US" dirty="0"/>
              <a:t>“</a:t>
            </a:r>
            <a:r>
              <a:rPr lang="ru-RU" dirty="0"/>
              <a:t>группа </a:t>
            </a:r>
            <a:r>
              <a:rPr lang="en-US" dirty="0"/>
              <a:t>CDSHOP”</a:t>
            </a:r>
            <a:endParaRPr lang="ru-RU" dirty="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1EED48DC-E78D-42CA-E584-9E566482F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733327"/>
              </p:ext>
            </p:extLst>
          </p:nvPr>
        </p:nvGraphicFramePr>
        <p:xfrm>
          <a:off x="4064000" y="2506664"/>
          <a:ext cx="8128000" cy="4048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646104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3913818"/>
                    </a:ext>
                  </a:extLst>
                </a:gridCol>
              </a:tblGrid>
              <a:tr h="2024138">
                <a:tc>
                  <a:txBody>
                    <a:bodyPr/>
                    <a:lstStyle/>
                    <a:p>
                      <a:r>
                        <a:rPr lang="ru-RU" sz="2400" dirty="0">
                          <a:hlinkClick r:id="rId3"/>
                        </a:rPr>
                        <a:t>Авито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4"/>
                        </a:rPr>
                        <a:t>GGSel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6305"/>
                  </a:ext>
                </a:extLst>
              </a:tr>
              <a:tr h="2024138"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5"/>
                        </a:rPr>
                        <a:t>Playerok</a:t>
                      </a:r>
                      <a:r>
                        <a:rPr lang="en-US" dirty="0">
                          <a:hlinkClick r:id="rId5"/>
                        </a:rPr>
                        <a:t>/CDSHOPVST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6"/>
                        </a:rPr>
                        <a:t>Plati.Market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318109"/>
                  </a:ext>
                </a:extLst>
              </a:tr>
            </a:tbl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7D1C958-611E-EDFA-62FD-B28A05CA89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4851" y="2587507"/>
            <a:ext cx="1628775" cy="17430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469E47F-3315-D036-FA35-8422A909E9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1152" y="3051638"/>
            <a:ext cx="3724656" cy="66082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EC2C1D0-8EA4-39DA-8EC5-51CBF2B9F0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7588" y="4981966"/>
            <a:ext cx="3543300" cy="120967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E535D7D-090C-7BE1-CFBB-039C955119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1152" y="5172465"/>
            <a:ext cx="3076575" cy="828675"/>
          </a:xfrm>
          <a:prstGeom prst="rect">
            <a:avLst/>
          </a:prstGeom>
        </p:spPr>
      </p:pic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BC69E705-A635-6340-843F-E1AC8E640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821768"/>
              </p:ext>
            </p:extLst>
          </p:nvPr>
        </p:nvGraphicFramePr>
        <p:xfrm>
          <a:off x="0" y="3613448"/>
          <a:ext cx="2760062" cy="1697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0062">
                  <a:extLst>
                    <a:ext uri="{9D8B030D-6E8A-4147-A177-3AD203B41FA5}">
                      <a16:colId xmlns:a16="http://schemas.microsoft.com/office/drawing/2014/main" val="3894769677"/>
                    </a:ext>
                  </a:extLst>
                </a:gridCol>
              </a:tblGrid>
              <a:tr h="1697648"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2"/>
                        </a:rPr>
                        <a:t>Playerok</a:t>
                      </a:r>
                      <a:r>
                        <a:rPr lang="en-US" dirty="0">
                          <a:hlinkClick r:id="rId2"/>
                        </a:rPr>
                        <a:t>/VSTSHOP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56263"/>
                  </a:ext>
                </a:extLst>
              </a:tr>
            </a:tbl>
          </a:graphicData>
        </a:graphic>
      </p:graphicFrame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ACA12C3-076C-5626-1694-1EB8B5B97D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94" y="4169607"/>
            <a:ext cx="2636474" cy="812359"/>
          </a:xfrm>
          <a:prstGeom prst="rect">
            <a:avLst/>
          </a:prstGeom>
        </p:spPr>
      </p:pic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8E0E014C-E417-4920-223D-ABE43C9871D3}"/>
              </a:ext>
            </a:extLst>
          </p:cNvPr>
          <p:cNvCxnSpPr/>
          <p:nvPr/>
        </p:nvCxnSpPr>
        <p:spPr>
          <a:xfrm>
            <a:off x="2760062" y="4462272"/>
            <a:ext cx="1303938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3D89554-1D0C-E4F9-CE08-5FE9E58F1F66}"/>
              </a:ext>
            </a:extLst>
          </p:cNvPr>
          <p:cNvSpPr txBox="1"/>
          <p:nvPr/>
        </p:nvSpPr>
        <p:spPr>
          <a:xfrm>
            <a:off x="7203291" y="2128506"/>
            <a:ext cx="184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Группа </a:t>
            </a:r>
            <a:r>
              <a:rPr lang="en-US" dirty="0"/>
              <a:t>CDSHOP</a:t>
            </a:r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F8ADED2-BC1A-94D0-4A7B-78AAFAF32044}"/>
              </a:ext>
            </a:extLst>
          </p:cNvPr>
          <p:cNvSpPr/>
          <p:nvPr/>
        </p:nvSpPr>
        <p:spPr>
          <a:xfrm>
            <a:off x="4064000" y="2150048"/>
            <a:ext cx="8128000" cy="35661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6711DC-91FE-952F-603C-442C0A425EE8}"/>
              </a:ext>
            </a:extLst>
          </p:cNvPr>
          <p:cNvSpPr txBox="1"/>
          <p:nvPr/>
        </p:nvSpPr>
        <p:spPr>
          <a:xfrm>
            <a:off x="3227832" y="4114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395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F9BC0-460A-36DB-E980-515A7895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36" y="500062"/>
            <a:ext cx="1176832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2.1 </a:t>
            </a:r>
            <a:r>
              <a:rPr lang="ru-RU" dirty="0"/>
              <a:t>Фиктивная сделка между</a:t>
            </a:r>
            <a:r>
              <a:rPr lang="en-US" dirty="0"/>
              <a:t>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/CDSHOPVST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/VSTSHOP</a:t>
            </a:r>
            <a:r>
              <a:rPr lang="ru-RU" dirty="0"/>
              <a:t> с целью накрутки отзыва</a:t>
            </a:r>
            <a:br>
              <a:rPr lang="ru-RU" dirty="0"/>
            </a:b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EE1C3D-A9DB-728B-8410-7BB7BE6F8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91385"/>
            <a:ext cx="11980164" cy="46666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Продавец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/VSTSHOP </a:t>
            </a:r>
            <a:r>
              <a:rPr lang="ru-RU" dirty="0"/>
              <a:t>начал продавать подписки </a:t>
            </a:r>
            <a:r>
              <a:rPr lang="ru-RU" dirty="0" err="1"/>
              <a:t>Splice</a:t>
            </a:r>
            <a:r>
              <a:rPr lang="ru-RU" dirty="0"/>
              <a:t> на </a:t>
            </a:r>
            <a:r>
              <a:rPr lang="ru-RU" dirty="0" err="1"/>
              <a:t>PlayerOK</a:t>
            </a:r>
            <a:r>
              <a:rPr lang="ru-RU" dirty="0"/>
              <a:t> как минимум с </a:t>
            </a:r>
            <a:r>
              <a:rPr lang="ru-RU" b="1" dirty="0"/>
              <a:t>03.09.26</a:t>
            </a:r>
            <a:r>
              <a:rPr lang="ru-RU" dirty="0"/>
              <a:t>, ведь именно в эту дату он получил первый отзыв по этой сделке от пользователя </a:t>
            </a:r>
            <a:r>
              <a:rPr lang="ru-RU" b="1" u="sng" dirty="0">
                <a:hlinkClick r:id="rId4"/>
              </a:rPr>
              <a:t>GERTSSSS.</a:t>
            </a:r>
            <a:endParaRPr lang="ru-RU" b="1" u="sng" dirty="0"/>
          </a:p>
          <a:p>
            <a:pPr marL="0" indent="0">
              <a:buNone/>
            </a:pPr>
            <a:endParaRPr lang="ru-RU" b="1" u="sng" dirty="0"/>
          </a:p>
          <a:p>
            <a:pPr marL="0" indent="0">
              <a:buNone/>
            </a:pPr>
            <a:r>
              <a:rPr lang="ru-RU" dirty="0"/>
              <a:t>Однако, </a:t>
            </a:r>
            <a:r>
              <a:rPr lang="ru-RU" b="1" dirty="0"/>
              <a:t>05.09.26</a:t>
            </a:r>
            <a:r>
              <a:rPr lang="ru-RU" dirty="0"/>
              <a:t>, уже имея первые продажи в этой категории, он зачем то приобретает у своего </a:t>
            </a:r>
            <a:r>
              <a:rPr lang="en-US" dirty="0"/>
              <a:t>“</a:t>
            </a:r>
            <a:r>
              <a:rPr lang="ru-RU" dirty="0"/>
              <a:t>конкурента</a:t>
            </a:r>
            <a:r>
              <a:rPr lang="en-US" dirty="0"/>
              <a:t>”</a:t>
            </a:r>
            <a:r>
              <a:rPr lang="ru-RU" dirty="0"/>
              <a:t>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/CDSHOPVST</a:t>
            </a:r>
            <a:r>
              <a:rPr lang="en-US" dirty="0"/>
              <a:t> </a:t>
            </a:r>
            <a:r>
              <a:rPr lang="ru-RU" dirty="0"/>
              <a:t>эту подписку, оставляя ему при этом положительный отзыв.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Выглядит это так, будто он купил товар у своего же второго аккаунта с целью формирования первоначального рейтинга.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Скриншоты на следующем слайде </a:t>
            </a:r>
            <a:r>
              <a:rPr lang="en-US" dirty="0"/>
              <a:t>-&gt;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70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D65C4-3F6D-9422-88EC-6E713FA1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Приложение к 2.1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A2A4207-6ADC-C1E6-9877-CE0001C55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744885"/>
              </p:ext>
            </p:extLst>
          </p:nvPr>
        </p:nvGraphicFramePr>
        <p:xfrm>
          <a:off x="429768" y="1825625"/>
          <a:ext cx="10924032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2016">
                  <a:extLst>
                    <a:ext uri="{9D8B030D-6E8A-4147-A177-3AD203B41FA5}">
                      <a16:colId xmlns:a16="http://schemas.microsoft.com/office/drawing/2014/main" val="3236487074"/>
                    </a:ext>
                  </a:extLst>
                </a:gridCol>
                <a:gridCol w="5462016">
                  <a:extLst>
                    <a:ext uri="{9D8B030D-6E8A-4147-A177-3AD203B41FA5}">
                      <a16:colId xmlns:a16="http://schemas.microsoft.com/office/drawing/2014/main" val="4067594614"/>
                    </a:ext>
                  </a:extLst>
                </a:gridCol>
              </a:tblGrid>
              <a:tr h="2333625">
                <a:tc>
                  <a:txBody>
                    <a:bodyPr/>
                    <a:lstStyle/>
                    <a:p>
                      <a:r>
                        <a:rPr lang="ru-RU" dirty="0"/>
                        <a:t>Приложение </a:t>
                      </a:r>
                      <a:r>
                        <a:rPr lang="en-US" dirty="0"/>
                        <a:t>#1. </a:t>
                      </a:r>
                      <a:r>
                        <a:rPr lang="ru-RU" dirty="0"/>
                        <a:t>Отзыв, датированный 03.09.26, оставленный покупателем </a:t>
                      </a:r>
                      <a:r>
                        <a:rPr lang="en-US" dirty="0"/>
                        <a:t>GERTSSSS</a:t>
                      </a:r>
                      <a:r>
                        <a:rPr lang="ru-RU" dirty="0"/>
                        <a:t> продавцу </a:t>
                      </a:r>
                      <a:r>
                        <a:rPr lang="en-US" dirty="0" err="1">
                          <a:hlinkClick r:id="rId2"/>
                        </a:rPr>
                        <a:t>Playerok</a:t>
                      </a:r>
                      <a:r>
                        <a:rPr lang="en-US" dirty="0">
                          <a:hlinkClick r:id="rId2"/>
                        </a:rPr>
                        <a:t>/VSTSHOP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792099"/>
                  </a:ext>
                </a:extLst>
              </a:tr>
              <a:tr h="2333625">
                <a:tc>
                  <a:txBody>
                    <a:bodyPr/>
                    <a:lstStyle/>
                    <a:p>
                      <a:r>
                        <a:rPr lang="ru-RU" dirty="0"/>
                        <a:t>Приложение </a:t>
                      </a:r>
                      <a:r>
                        <a:rPr lang="en-US" dirty="0"/>
                        <a:t>#2. </a:t>
                      </a:r>
                      <a:r>
                        <a:rPr lang="ru-RU" dirty="0"/>
                        <a:t>Всё тот же </a:t>
                      </a:r>
                      <a:r>
                        <a:rPr lang="en-US" dirty="0" err="1">
                          <a:hlinkClick r:id="rId2"/>
                        </a:rPr>
                        <a:t>Playerok</a:t>
                      </a:r>
                      <a:r>
                        <a:rPr lang="en-US" dirty="0">
                          <a:hlinkClick r:id="rId2"/>
                        </a:rPr>
                        <a:t>/VSTSHOP</a:t>
                      </a:r>
                      <a:r>
                        <a:rPr lang="ru-RU" dirty="0"/>
                        <a:t> оставляет отзыв конкуренту </a:t>
                      </a:r>
                      <a:r>
                        <a:rPr lang="en-US" dirty="0" err="1">
                          <a:hlinkClick r:id="rId3"/>
                        </a:rPr>
                        <a:t>Playerok</a:t>
                      </a:r>
                      <a:r>
                        <a:rPr lang="en-US" dirty="0">
                          <a:hlinkClick r:id="rId3"/>
                        </a:rPr>
                        <a:t>/CDSHOPVST</a:t>
                      </a:r>
                      <a:r>
                        <a:rPr lang="ru-RU" dirty="0"/>
                        <a:t> на тот товар, который 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сам же и продаёт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22691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A61CF3-BA5D-905E-FD12-FA62BE74A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401" y="1889634"/>
            <a:ext cx="4392359" cy="21831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7D90BD-ABBF-4E26-D527-7A7C0606A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401" y="4273309"/>
            <a:ext cx="4281965" cy="218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3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C604B-FFDF-C127-A2DC-6649EF394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2.2 Одинаковый ассортимент продавца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и </a:t>
            </a:r>
            <a:r>
              <a:rPr lang="en-US" dirty="0"/>
              <a:t>“</a:t>
            </a:r>
            <a:r>
              <a:rPr lang="ru-RU" dirty="0"/>
              <a:t>группы </a:t>
            </a:r>
            <a:r>
              <a:rPr lang="en-US" dirty="0"/>
              <a:t>CDSHOP”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4AD0FDF-EDAF-7CC1-4FD1-BDFD8CA3F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287041"/>
              </p:ext>
            </p:extLst>
          </p:nvPr>
        </p:nvGraphicFramePr>
        <p:xfrm>
          <a:off x="838200" y="2146220"/>
          <a:ext cx="6477000" cy="28109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6976">
                  <a:extLst>
                    <a:ext uri="{9D8B030D-6E8A-4147-A177-3AD203B41FA5}">
                      <a16:colId xmlns:a16="http://schemas.microsoft.com/office/drawing/2014/main" val="2286626295"/>
                    </a:ext>
                  </a:extLst>
                </a:gridCol>
                <a:gridCol w="1588111">
                  <a:extLst>
                    <a:ext uri="{9D8B030D-6E8A-4147-A177-3AD203B41FA5}">
                      <a16:colId xmlns:a16="http://schemas.microsoft.com/office/drawing/2014/main" val="3264638788"/>
                    </a:ext>
                  </a:extLst>
                </a:gridCol>
                <a:gridCol w="1069120">
                  <a:extLst>
                    <a:ext uri="{9D8B030D-6E8A-4147-A177-3AD203B41FA5}">
                      <a16:colId xmlns:a16="http://schemas.microsoft.com/office/drawing/2014/main" val="3773431318"/>
                    </a:ext>
                  </a:extLst>
                </a:gridCol>
                <a:gridCol w="685067">
                  <a:extLst>
                    <a:ext uri="{9D8B030D-6E8A-4147-A177-3AD203B41FA5}">
                      <a16:colId xmlns:a16="http://schemas.microsoft.com/office/drawing/2014/main" val="1522239270"/>
                    </a:ext>
                  </a:extLst>
                </a:gridCol>
                <a:gridCol w="757726">
                  <a:extLst>
                    <a:ext uri="{9D8B030D-6E8A-4147-A177-3AD203B41FA5}">
                      <a16:colId xmlns:a16="http://schemas.microsoft.com/office/drawing/2014/main" val="759297913"/>
                    </a:ext>
                  </a:extLst>
                </a:gridCol>
              </a:tblGrid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Товар</a:t>
                      </a:r>
                      <a:endParaRPr lang="ru-RU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dirty="0" err="1">
                          <a:hlinkClick r:id="rId2"/>
                        </a:rPr>
                        <a:t>Playerok</a:t>
                      </a:r>
                      <a:r>
                        <a:rPr lang="en-US" sz="1200" dirty="0">
                          <a:hlinkClick r:id="rId2"/>
                        </a:rPr>
                        <a:t>/VSTSHOP</a:t>
                      </a:r>
                      <a:endParaRPr lang="ru-RU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Plati.Market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GGSel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Avito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30505235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Подписки Splice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936332901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Sonnox VoxDoubler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040734936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Native Instruments Massive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365443611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Relab LX480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>
                          <a:solidFill>
                            <a:schemeClr val="accent6"/>
                          </a:solidFill>
                          <a:effectLst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77414810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Air Bundle 20 плагинов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980357917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FabFilter Total Bundle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24346365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T-rackS 5 SE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81719536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AUTO-TUNE DUO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-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2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3682269"/>
                  </a:ext>
                </a:extLst>
              </a:tr>
              <a:tr h="2810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Melodyne 5 Essential</a:t>
                      </a:r>
                      <a:endParaRPr lang="ru-RU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2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sng" strike="noStrike" dirty="0">
                          <a:solidFill>
                            <a:schemeClr val="accent6"/>
                          </a:solidFill>
                          <a:effectLst/>
                          <a:hlinkClick r:id="rId2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</a:t>
                      </a:r>
                      <a:endParaRPr lang="ru-RU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-</a:t>
                      </a:r>
                      <a:endParaRPr lang="ru-RU" dirty="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0138192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EE81CE-8FA6-7EDB-F50C-4ED3BBB73B1A}"/>
              </a:ext>
            </a:extLst>
          </p:cNvPr>
          <p:cNvSpPr txBox="1"/>
          <p:nvPr/>
        </p:nvSpPr>
        <p:spPr>
          <a:xfrm>
            <a:off x="838200" y="1733788"/>
            <a:ext cx="535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Все плюсики </a:t>
            </a:r>
            <a:r>
              <a:rPr lang="ru-RU" dirty="0" err="1"/>
              <a:t>кликабельны</a:t>
            </a:r>
            <a:r>
              <a:rPr lang="ru-RU" dirty="0"/>
              <a:t> и ведут на объявления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80B14-FC61-F2AA-FC3E-75932E965E45}"/>
              </a:ext>
            </a:extLst>
          </p:cNvPr>
          <p:cNvSpPr txBox="1"/>
          <p:nvPr/>
        </p:nvSpPr>
        <p:spPr>
          <a:xfrm>
            <a:off x="838200" y="5220319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Как вы можете убедиться – всё что есть в продаже у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также есть в ассортименте </a:t>
            </a:r>
            <a:r>
              <a:rPr lang="en-US" dirty="0"/>
              <a:t>“</a:t>
            </a:r>
            <a:r>
              <a:rPr lang="ru-RU" dirty="0"/>
              <a:t>группы</a:t>
            </a:r>
            <a:r>
              <a:rPr lang="en-US" dirty="0"/>
              <a:t> CDSHOP”</a:t>
            </a:r>
            <a:r>
              <a:rPr lang="ru-RU" dirty="0"/>
              <a:t> как минимум на одной площадке, что сильно укрепляет позицию моих догадок из пункта 2.1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7986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8E4A65A-369A-A23F-9D7E-78C40C42F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884246"/>
              </p:ext>
            </p:extLst>
          </p:nvPr>
        </p:nvGraphicFramePr>
        <p:xfrm>
          <a:off x="6483096" y="1596708"/>
          <a:ext cx="5423408" cy="2793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1704">
                  <a:extLst>
                    <a:ext uri="{9D8B030D-6E8A-4147-A177-3AD203B41FA5}">
                      <a16:colId xmlns:a16="http://schemas.microsoft.com/office/drawing/2014/main" val="2252794291"/>
                    </a:ext>
                  </a:extLst>
                </a:gridCol>
                <a:gridCol w="2711704">
                  <a:extLst>
                    <a:ext uri="{9D8B030D-6E8A-4147-A177-3AD203B41FA5}">
                      <a16:colId xmlns:a16="http://schemas.microsoft.com/office/drawing/2014/main" val="702722360"/>
                    </a:ext>
                  </a:extLst>
                </a:gridCol>
              </a:tblGrid>
              <a:tr h="4176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Объявление на </a:t>
                      </a:r>
                      <a:r>
                        <a:rPr lang="en-US" dirty="0" err="1"/>
                        <a:t>PlayerOK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Объявление на </a:t>
                      </a:r>
                      <a:r>
                        <a:rPr lang="en-US" dirty="0"/>
                        <a:t>Plati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31028"/>
                  </a:ext>
                </a:extLst>
              </a:tr>
              <a:tr h="215389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17435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B6100-B0D2-392D-F420-08D4877F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" y="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2.3 Одинаковое текстовое оформление товаров у </a:t>
            </a:r>
            <a:r>
              <a:rPr lang="en-US" dirty="0" err="1">
                <a:hlinkClick r:id="rId2"/>
              </a:rPr>
              <a:t>Plati.Market</a:t>
            </a:r>
            <a:r>
              <a:rPr lang="ru-RU" dirty="0"/>
              <a:t> и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/VSTSHOP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DB7B4-ADAA-D664-65F6-F05F7EFFA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96" y="1578737"/>
            <a:ext cx="6216904" cy="27939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У продавца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/VSTSHOP </a:t>
            </a:r>
            <a:r>
              <a:rPr lang="ru-RU" dirty="0"/>
              <a:t>присутствует та же опечатка в названии товара</a:t>
            </a:r>
            <a:r>
              <a:rPr lang="en-US" dirty="0"/>
              <a:t> Air Xpand!2</a:t>
            </a:r>
            <a:r>
              <a:rPr lang="ru-RU" dirty="0"/>
              <a:t>, что и у продавца </a:t>
            </a:r>
            <a:r>
              <a:rPr lang="en-US" dirty="0" err="1">
                <a:hlinkClick r:id="rId2"/>
              </a:rPr>
              <a:t>Plati.Market</a:t>
            </a:r>
            <a:r>
              <a:rPr lang="en-US" dirty="0"/>
              <a:t>. </a:t>
            </a:r>
            <a:r>
              <a:rPr lang="ru-RU" dirty="0"/>
              <a:t>В название товара по ошибке добавлена буква </a:t>
            </a:r>
            <a:r>
              <a:rPr lang="en-US" dirty="0"/>
              <a:t>L.</a:t>
            </a:r>
          </a:p>
          <a:p>
            <a:pPr marL="0" indent="0">
              <a:buNone/>
            </a:pPr>
            <a:r>
              <a:rPr lang="ru-RU" dirty="0"/>
              <a:t>Также идентично название и описание этих товаров (как и всех остальных)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189D0F-81C8-5482-6FFF-1CD40A6D5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743" y="2260496"/>
            <a:ext cx="1424969" cy="195027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C9E0C7-7C8E-F7AD-73B0-945FCA5C8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520" y="2260496"/>
            <a:ext cx="1800255" cy="19502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48DA6E-D935-0F72-975F-29DEAEE7BB22}"/>
              </a:ext>
            </a:extLst>
          </p:cNvPr>
          <p:cNvSpPr txBox="1"/>
          <p:nvPr/>
        </p:nvSpPr>
        <p:spPr>
          <a:xfrm>
            <a:off x="139192" y="5036501"/>
            <a:ext cx="11913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 </a:t>
            </a:r>
            <a:r>
              <a:rPr lang="ru-RU" b="1" dirty="0"/>
              <a:t>всех товаров </a:t>
            </a:r>
            <a:r>
              <a:rPr lang="ru-RU" dirty="0"/>
              <a:t>продавца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/VSTSHOP </a:t>
            </a:r>
            <a:r>
              <a:rPr lang="ru-RU" dirty="0"/>
              <a:t> (кроме подписок </a:t>
            </a:r>
            <a:r>
              <a:rPr lang="ru-RU" dirty="0" err="1"/>
              <a:t>Splice</a:t>
            </a:r>
            <a:r>
              <a:rPr lang="ru-RU" dirty="0"/>
              <a:t>) названия товаров и описания </a:t>
            </a:r>
            <a:r>
              <a:rPr lang="ru-RU" b="1" dirty="0"/>
              <a:t>абсолютно идентичны </a:t>
            </a:r>
            <a:r>
              <a:rPr lang="ru-RU" dirty="0"/>
              <a:t>названиям товаров и описаниям товаров продавца из </a:t>
            </a:r>
            <a:r>
              <a:rPr lang="en-US" dirty="0"/>
              <a:t>“</a:t>
            </a:r>
            <a:r>
              <a:rPr lang="ru-RU" dirty="0"/>
              <a:t>группы </a:t>
            </a:r>
            <a:r>
              <a:rPr lang="en-US" dirty="0"/>
              <a:t>CDSHOP” - </a:t>
            </a:r>
            <a:r>
              <a:rPr lang="en-US" dirty="0" err="1">
                <a:hlinkClick r:id="rId2"/>
              </a:rPr>
              <a:t>Plati.Market</a:t>
            </a:r>
            <a:r>
              <a:rPr lang="ru-RU" dirty="0"/>
              <a:t>, что в очередной раз доказывает их взаимосвязь и принадлежность одному человеку</a:t>
            </a:r>
            <a:r>
              <a:rPr lang="en-US" dirty="0"/>
              <a:t>/</a:t>
            </a:r>
            <a:r>
              <a:rPr lang="ru-RU" dirty="0"/>
              <a:t>группе лиц.</a:t>
            </a:r>
          </a:p>
          <a:p>
            <a:endParaRPr lang="ru-RU" dirty="0"/>
          </a:p>
          <a:p>
            <a:r>
              <a:rPr lang="ru-RU" dirty="0"/>
              <a:t>Единственное отличие – на </a:t>
            </a:r>
            <a:r>
              <a:rPr lang="ru-RU" dirty="0" err="1"/>
              <a:t>Плеерок</a:t>
            </a:r>
            <a:r>
              <a:rPr lang="ru-RU" dirty="0"/>
              <a:t> добавились смайлики (на Плати смайлики в названиях товаров запрещены)</a:t>
            </a:r>
          </a:p>
        </p:txBody>
      </p:sp>
    </p:spTree>
    <p:extLst>
      <p:ext uri="{BB962C8B-B14F-4D97-AF65-F5344CB8AC3E}">
        <p14:creationId xmlns:p14="http://schemas.microsoft.com/office/powerpoint/2010/main" val="198982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EC75A-70B4-25DE-1CEB-E581A8163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2.4</a:t>
            </a:r>
            <a:r>
              <a:rPr lang="ru-RU" dirty="0"/>
              <a:t> Практически идентичные названия у магазинов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, </a:t>
            </a:r>
            <a:r>
              <a:rPr lang="en-US" dirty="0" err="1">
                <a:hlinkClick r:id="rId3"/>
              </a:rPr>
              <a:t>GGSel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>
                <a:hlinkClick r:id="rId4"/>
              </a:rPr>
              <a:t>Plati.Market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229A364-E918-B950-2942-FFAB3324BC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715205"/>
              </p:ext>
            </p:extLst>
          </p:nvPr>
        </p:nvGraphicFramePr>
        <p:xfrm>
          <a:off x="838200" y="1825624"/>
          <a:ext cx="10515597" cy="13138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608372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553129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8747628"/>
                    </a:ext>
                  </a:extLst>
                </a:gridCol>
              </a:tblGrid>
              <a:tr h="396368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hlinkClick r:id="rId2"/>
                        </a:rPr>
                        <a:t>Playerok</a:t>
                      </a:r>
                      <a:r>
                        <a:rPr lang="en-US" dirty="0">
                          <a:hlinkClick r:id="rId2"/>
                        </a:rPr>
                        <a:t>/VSTSHOP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hlinkClick r:id="rId3"/>
                        </a:rPr>
                        <a:t>GGSel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hlinkClick r:id="rId4"/>
                        </a:rPr>
                        <a:t>Plati.Market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75490"/>
                  </a:ext>
                </a:extLst>
              </a:tr>
              <a:tr h="917521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921413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FAC6E8D-EC48-85CE-F9EF-43F794640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514" y="2262814"/>
            <a:ext cx="2636474" cy="8123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CF2EDB-592A-888C-1066-D0A3B56D7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773" y="2395728"/>
            <a:ext cx="3080453" cy="54653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4E6F3A3-DAC4-6673-9060-24C73F2BA2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704" y="2262814"/>
            <a:ext cx="3076575" cy="828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C1E0D9-9D4B-3812-A00E-55C9C63F266E}"/>
              </a:ext>
            </a:extLst>
          </p:cNvPr>
          <p:cNvSpPr txBox="1"/>
          <p:nvPr/>
        </p:nvSpPr>
        <p:spPr>
          <a:xfrm>
            <a:off x="838200" y="3429000"/>
            <a:ext cx="10853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Да, безусловно можно посчитать, что этот аргумент </a:t>
            </a:r>
            <a:r>
              <a:rPr lang="en-US" sz="2400" dirty="0"/>
              <a:t>“</a:t>
            </a:r>
            <a:r>
              <a:rPr lang="ru-RU" sz="2400" dirty="0"/>
              <a:t>притянут за уши</a:t>
            </a:r>
            <a:r>
              <a:rPr lang="en-US" sz="2400" dirty="0"/>
              <a:t>”</a:t>
            </a:r>
            <a:r>
              <a:rPr lang="ru-RU" sz="2400" dirty="0"/>
              <a:t>, однако в совокупности с другими факторами, описанными мной, </a:t>
            </a:r>
            <a:r>
              <a:rPr lang="en-US" sz="2400" dirty="0"/>
              <a:t>“</a:t>
            </a:r>
            <a:r>
              <a:rPr lang="ru-RU" sz="2400" dirty="0"/>
              <a:t>похожесть</a:t>
            </a:r>
            <a:r>
              <a:rPr lang="en-US" sz="2400" dirty="0"/>
              <a:t>”</a:t>
            </a:r>
            <a:r>
              <a:rPr lang="ru-RU" sz="2400" dirty="0"/>
              <a:t> никнеймов отлично дополняет общую картину доказательств.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35CCB86-F215-042D-3C67-79AC8F26FD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442" y="5095349"/>
            <a:ext cx="4364355" cy="13752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257D23F-3E91-E42D-DE5D-97F3C94062D7}"/>
              </a:ext>
            </a:extLst>
          </p:cNvPr>
          <p:cNvSpPr txBox="1"/>
          <p:nvPr/>
        </p:nvSpPr>
        <p:spPr>
          <a:xfrm>
            <a:off x="838200" y="4813485"/>
            <a:ext cx="6094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А то что на аватарке продавца </a:t>
            </a:r>
            <a:r>
              <a:rPr lang="en-US" sz="2400" dirty="0" err="1">
                <a:hlinkClick r:id="rId9"/>
              </a:rPr>
              <a:t>Playerok</a:t>
            </a:r>
            <a:r>
              <a:rPr lang="en-US" sz="2400" dirty="0">
                <a:hlinkClick r:id="rId9"/>
              </a:rPr>
              <a:t>/CDSHOPVST</a:t>
            </a:r>
            <a:r>
              <a:rPr lang="ru-RU" sz="2400" dirty="0"/>
              <a:t>  и в названии его профиля также находится сочетание слов </a:t>
            </a:r>
            <a:r>
              <a:rPr lang="en-US" sz="2400" dirty="0"/>
              <a:t>VST SHOP – </a:t>
            </a:r>
            <a:r>
              <a:rPr lang="ru-RU" sz="2400" dirty="0"/>
              <a:t>очередной </a:t>
            </a:r>
            <a:r>
              <a:rPr lang="en-US" sz="2400" dirty="0"/>
              <a:t>“</a:t>
            </a:r>
            <a:r>
              <a:rPr lang="ru-RU" sz="2400" dirty="0"/>
              <a:t>гол в ворота</a:t>
            </a:r>
            <a:r>
              <a:rPr lang="en-US" sz="2400" dirty="0"/>
              <a:t>” </a:t>
            </a:r>
            <a:r>
              <a:rPr lang="ru-RU" sz="2400" dirty="0"/>
              <a:t>нарушителю</a:t>
            </a:r>
          </a:p>
        </p:txBody>
      </p:sp>
    </p:spTree>
    <p:extLst>
      <p:ext uri="{BB962C8B-B14F-4D97-AF65-F5344CB8AC3E}">
        <p14:creationId xmlns:p14="http://schemas.microsoft.com/office/powerpoint/2010/main" val="782327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59A91-8344-FD36-1430-1D64F989A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49"/>
            <a:ext cx="10515600" cy="1325563"/>
          </a:xfrm>
        </p:spPr>
        <p:txBody>
          <a:bodyPr/>
          <a:lstStyle/>
          <a:p>
            <a:r>
              <a:rPr lang="ru-RU" dirty="0"/>
              <a:t>2.5 Одинаковый</a:t>
            </a:r>
            <a:r>
              <a:rPr lang="en-US" dirty="0"/>
              <a:t>/</a:t>
            </a:r>
            <a:r>
              <a:rPr lang="ru-RU" dirty="0"/>
              <a:t>почти одинаковый день начала продаж в категории </a:t>
            </a:r>
            <a:r>
              <a:rPr lang="en-US" dirty="0"/>
              <a:t>Splice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15E76-8C89-B9C6-1D3D-66D94A040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554480"/>
            <a:ext cx="11301984" cy="502919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Хоть это и самый косвенный признак из перечисленных, но умолчать о нём не могу.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Я продаю подписки в категории </a:t>
            </a:r>
            <a:r>
              <a:rPr lang="en-US" dirty="0"/>
              <a:t>Splice </a:t>
            </a:r>
            <a:r>
              <a:rPr lang="ru-RU" dirty="0"/>
              <a:t>на </a:t>
            </a:r>
            <a:r>
              <a:rPr lang="en-US" dirty="0" err="1"/>
              <a:t>PlayerOK</a:t>
            </a:r>
            <a:r>
              <a:rPr lang="en-US" dirty="0"/>
              <a:t> </a:t>
            </a:r>
            <a:r>
              <a:rPr lang="ru-RU" dirty="0"/>
              <a:t>уже более полугода – ещё до того момента как эта категория появилась.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 всю историю существования этой категории в ней торговали от силы 12 продавцов помимо меня (и это с учётом тех, которые перестали продавать). У всех был разный ассортимент, совершенно разные цены, они появлялись и пропадали из категории в разное время.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Однако объявления селлеров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и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/CDSHOPVST</a:t>
            </a:r>
            <a:r>
              <a:rPr lang="en-US" dirty="0"/>
              <a:t> </a:t>
            </a:r>
            <a:r>
              <a:rPr lang="ru-RU" dirty="0"/>
              <a:t>появились в один и тот же день (возможно с разницей в один день).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У них</a:t>
            </a:r>
            <a:r>
              <a:rPr lang="en-US" dirty="0"/>
              <a:t>:</a:t>
            </a:r>
          </a:p>
          <a:p>
            <a:r>
              <a:rPr lang="ru-RU" dirty="0"/>
              <a:t>Одинаковый ассортимент подписок </a:t>
            </a:r>
            <a:r>
              <a:rPr lang="en-US" dirty="0"/>
              <a:t>Splice (</a:t>
            </a:r>
            <a:r>
              <a:rPr lang="ru-RU" dirty="0"/>
              <a:t>тип подписки, сроки). Например они оба продают </a:t>
            </a:r>
            <a:r>
              <a:rPr lang="en-US" dirty="0"/>
              <a:t>Sounds+ </a:t>
            </a:r>
            <a:r>
              <a:rPr lang="ru-RU" dirty="0"/>
              <a:t>на 2 месяца, хотя раньше никто на площадке именно такой срок </a:t>
            </a:r>
            <a:r>
              <a:rPr lang="en-US" dirty="0"/>
              <a:t>Sounds+</a:t>
            </a:r>
            <a:r>
              <a:rPr lang="ru-RU" dirty="0"/>
              <a:t> не продавал</a:t>
            </a:r>
          </a:p>
          <a:p>
            <a:r>
              <a:rPr lang="ru-RU" dirty="0"/>
              <a:t>Одинаковые цены вплоть до рубля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Что также подтверждает мои тезисы из предыдущих пунктов</a:t>
            </a:r>
          </a:p>
        </p:txBody>
      </p:sp>
    </p:spTree>
    <p:extLst>
      <p:ext uri="{BB962C8B-B14F-4D97-AF65-F5344CB8AC3E}">
        <p14:creationId xmlns:p14="http://schemas.microsoft.com/office/powerpoint/2010/main" val="2719419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610F6-2B1B-7FE3-0019-93FDB8038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6123"/>
          </a:xfrm>
        </p:spPr>
        <p:txBody>
          <a:bodyPr>
            <a:normAutofit fontScale="90000"/>
          </a:bodyPr>
          <a:lstStyle/>
          <a:p>
            <a:r>
              <a:rPr lang="ru-RU" dirty="0"/>
              <a:t>Итог по главе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E0BA8F-44DB-F39F-BB62-ECC831B38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432"/>
            <a:ext cx="10515600" cy="52303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Магазин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принадлежит </a:t>
            </a:r>
            <a:r>
              <a:rPr lang="en-US" dirty="0"/>
              <a:t>“</a:t>
            </a:r>
            <a:r>
              <a:rPr lang="ru-RU" dirty="0"/>
              <a:t>Группе </a:t>
            </a:r>
            <a:r>
              <a:rPr lang="en-US" dirty="0"/>
              <a:t>CDSHOP”,</a:t>
            </a:r>
            <a:r>
              <a:rPr lang="ru-RU" dirty="0"/>
              <a:t> в которую входит в том числе и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/CDSHOPVST</a:t>
            </a:r>
            <a:r>
              <a:rPr lang="ru-RU" dirty="0"/>
              <a:t> по следующим признакам</a:t>
            </a:r>
            <a:r>
              <a:rPr lang="en-US" dirty="0"/>
              <a:t>:</a:t>
            </a:r>
          </a:p>
          <a:p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оставлял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/CDSHOPVST</a:t>
            </a:r>
            <a:r>
              <a:rPr lang="ru-RU" dirty="0"/>
              <a:t> отзыв за покупку того товара, который на тот момент уже сам продавал (слайд 7)</a:t>
            </a:r>
          </a:p>
          <a:p>
            <a:r>
              <a:rPr lang="ru-RU" dirty="0"/>
              <a:t>Ассортимент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полностью идентичен ассортименту </a:t>
            </a:r>
            <a:r>
              <a:rPr lang="en-US" dirty="0"/>
              <a:t>“</a:t>
            </a:r>
            <a:r>
              <a:rPr lang="ru-RU" dirty="0"/>
              <a:t>группы </a:t>
            </a:r>
            <a:r>
              <a:rPr lang="en-US" dirty="0"/>
              <a:t>CDSHOP” (</a:t>
            </a:r>
            <a:r>
              <a:rPr lang="ru-RU" dirty="0"/>
              <a:t>слайд 9)</a:t>
            </a:r>
          </a:p>
          <a:p>
            <a:r>
              <a:rPr lang="ru-RU" dirty="0"/>
              <a:t>Названия и описания всех товаров (кроме </a:t>
            </a:r>
            <a:r>
              <a:rPr lang="en-US" dirty="0"/>
              <a:t>Splice)</a:t>
            </a:r>
            <a:r>
              <a:rPr lang="ru-RU" dirty="0"/>
              <a:t> продавца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полностью идентичны описаниям и названиям товаров </a:t>
            </a:r>
            <a:r>
              <a:rPr lang="en-US" dirty="0"/>
              <a:t>“</a:t>
            </a:r>
            <a:r>
              <a:rPr lang="ru-RU" dirty="0"/>
              <a:t>группы </a:t>
            </a:r>
            <a:r>
              <a:rPr lang="en-US" dirty="0"/>
              <a:t>CDSHOP”</a:t>
            </a:r>
            <a:r>
              <a:rPr lang="ru-RU" dirty="0"/>
              <a:t> (слайд 10)</a:t>
            </a:r>
          </a:p>
          <a:p>
            <a:r>
              <a:rPr lang="ru-RU" dirty="0"/>
              <a:t>Магазины </a:t>
            </a:r>
            <a:r>
              <a:rPr lang="en-US" dirty="0"/>
              <a:t>“</a:t>
            </a:r>
            <a:r>
              <a:rPr lang="ru-RU" dirty="0"/>
              <a:t>группы </a:t>
            </a:r>
            <a:r>
              <a:rPr lang="en-US" dirty="0"/>
              <a:t>CDSHOP”</a:t>
            </a:r>
            <a:r>
              <a:rPr lang="ru-RU" dirty="0"/>
              <a:t> похожи названием на название магазина </a:t>
            </a:r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</a:t>
            </a:r>
          </a:p>
          <a:p>
            <a:r>
              <a:rPr lang="en-US" dirty="0" err="1">
                <a:hlinkClick r:id="rId2"/>
              </a:rPr>
              <a:t>Playerok</a:t>
            </a:r>
            <a:r>
              <a:rPr lang="en-US" dirty="0">
                <a:hlinkClick r:id="rId2"/>
              </a:rPr>
              <a:t>/VSTSHOP</a:t>
            </a:r>
            <a:r>
              <a:rPr lang="ru-RU" dirty="0"/>
              <a:t> и </a:t>
            </a:r>
            <a:r>
              <a:rPr lang="en-US" dirty="0" err="1">
                <a:hlinkClick r:id="rId3"/>
              </a:rPr>
              <a:t>Playerok</a:t>
            </a:r>
            <a:r>
              <a:rPr lang="en-US" dirty="0">
                <a:hlinkClick r:id="rId3"/>
              </a:rPr>
              <a:t>/CDSHOPVST</a:t>
            </a:r>
            <a:r>
              <a:rPr lang="ru-RU" dirty="0"/>
              <a:t> начали торговать в категории </a:t>
            </a:r>
            <a:r>
              <a:rPr lang="en-US" dirty="0"/>
              <a:t>Splice (</a:t>
            </a:r>
            <a:r>
              <a:rPr lang="ru-RU" dirty="0"/>
              <a:t>далеко не самая популярная категория) в один и тот же день</a:t>
            </a:r>
            <a:r>
              <a:rPr lang="en-US" dirty="0"/>
              <a:t>:</a:t>
            </a:r>
            <a:r>
              <a:rPr lang="ru-RU" dirty="0"/>
              <a:t> имеют одинаковый ассортимент типов и сроков подписок, абсолютно одинаковые цены на товары</a:t>
            </a:r>
          </a:p>
        </p:txBody>
      </p:sp>
    </p:spTree>
    <p:extLst>
      <p:ext uri="{BB962C8B-B14F-4D97-AF65-F5344CB8AC3E}">
        <p14:creationId xmlns:p14="http://schemas.microsoft.com/office/powerpoint/2010/main" val="2696548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62021E-C409-71C7-E933-F504E1DF5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269" y="41570"/>
            <a:ext cx="11087608" cy="1325563"/>
          </a:xfrm>
        </p:spPr>
        <p:txBody>
          <a:bodyPr/>
          <a:lstStyle/>
          <a:p>
            <a:r>
              <a:rPr lang="ru-RU" b="1" dirty="0"/>
              <a:t>Согласны с доводами с прошлых слайдов?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FD3AD1-0D9B-84F8-48CB-0D4C7F83B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23" y="1266379"/>
            <a:ext cx="10515600" cy="74648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Значит за всеми этими магазинами стоит один и тот же человек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45DD8E5-8153-D1A5-8730-31E64A350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758279"/>
              </p:ext>
            </p:extLst>
          </p:nvPr>
        </p:nvGraphicFramePr>
        <p:xfrm>
          <a:off x="4064000" y="2506664"/>
          <a:ext cx="8128000" cy="4048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646104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3913818"/>
                    </a:ext>
                  </a:extLst>
                </a:gridCol>
              </a:tblGrid>
              <a:tr h="2024138">
                <a:tc>
                  <a:txBody>
                    <a:bodyPr/>
                    <a:lstStyle/>
                    <a:p>
                      <a:r>
                        <a:rPr lang="ru-RU" sz="2400" dirty="0">
                          <a:hlinkClick r:id="rId2"/>
                        </a:rPr>
                        <a:t>Авито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3"/>
                        </a:rPr>
                        <a:t>GGSel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6305"/>
                  </a:ext>
                </a:extLst>
              </a:tr>
              <a:tr h="2024138"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4"/>
                        </a:rPr>
                        <a:t>Playerok</a:t>
                      </a:r>
                      <a:r>
                        <a:rPr lang="en-US" dirty="0">
                          <a:hlinkClick r:id="rId4"/>
                        </a:rPr>
                        <a:t>/CDSHOPVST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5"/>
                        </a:rPr>
                        <a:t>Plati.Market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318109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D53830-8BB1-B6DA-62DD-DECAC1D98B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4851" y="2587507"/>
            <a:ext cx="1628775" cy="17430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3A3974-560C-A337-1FFD-CB62C9F53D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1152" y="3051638"/>
            <a:ext cx="3724656" cy="6608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DD9AEC-E9A3-7D70-E79B-A2EEFCEC92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7588" y="4981966"/>
            <a:ext cx="3543300" cy="12096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365191-7474-FCDB-9D04-8B111ACCFB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1152" y="5172465"/>
            <a:ext cx="3076575" cy="828675"/>
          </a:xfrm>
          <a:prstGeom prst="rect">
            <a:avLst/>
          </a:prstGeom>
        </p:spPr>
      </p:pic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B996519-E8AD-3170-F8F6-6C89946C8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813810"/>
              </p:ext>
            </p:extLst>
          </p:nvPr>
        </p:nvGraphicFramePr>
        <p:xfrm>
          <a:off x="0" y="3613448"/>
          <a:ext cx="2760062" cy="1697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0062">
                  <a:extLst>
                    <a:ext uri="{9D8B030D-6E8A-4147-A177-3AD203B41FA5}">
                      <a16:colId xmlns:a16="http://schemas.microsoft.com/office/drawing/2014/main" val="3894769677"/>
                    </a:ext>
                  </a:extLst>
                </a:gridCol>
              </a:tblGrid>
              <a:tr h="1697648"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10"/>
                        </a:rPr>
                        <a:t>Playerok</a:t>
                      </a:r>
                      <a:r>
                        <a:rPr lang="en-US" dirty="0">
                          <a:hlinkClick r:id="rId10"/>
                        </a:rPr>
                        <a:t>/VSTSHOP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56263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BDC6964-AED1-6471-1CDE-7886BE5AA7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94" y="4169607"/>
            <a:ext cx="2636474" cy="812359"/>
          </a:xfrm>
          <a:prstGeom prst="rect">
            <a:avLst/>
          </a:prstGeom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05E7A61-D154-0831-FB48-6B30CEB61B4F}"/>
              </a:ext>
            </a:extLst>
          </p:cNvPr>
          <p:cNvCxnSpPr>
            <a:cxnSpLocks/>
          </p:cNvCxnSpPr>
          <p:nvPr/>
        </p:nvCxnSpPr>
        <p:spPr>
          <a:xfrm>
            <a:off x="2760062" y="4462272"/>
            <a:ext cx="1303938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CD33885-B7F2-6A8A-B9F3-3C29CEEC46C6}"/>
              </a:ext>
            </a:extLst>
          </p:cNvPr>
          <p:cNvSpPr txBox="1"/>
          <p:nvPr/>
        </p:nvSpPr>
        <p:spPr>
          <a:xfrm>
            <a:off x="7203291" y="2128506"/>
            <a:ext cx="1849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Группа </a:t>
            </a:r>
            <a:r>
              <a:rPr lang="en-US" dirty="0"/>
              <a:t>CDSHOP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1EF7C0A-95C7-286D-0C7B-6C28CA42B818}"/>
              </a:ext>
            </a:extLst>
          </p:cNvPr>
          <p:cNvSpPr/>
          <p:nvPr/>
        </p:nvSpPr>
        <p:spPr>
          <a:xfrm>
            <a:off x="4064000" y="2150048"/>
            <a:ext cx="8128000" cy="35661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DDE963-D405-C18A-86E7-35D8E8E33396}"/>
              </a:ext>
            </a:extLst>
          </p:cNvPr>
          <p:cNvSpPr txBox="1"/>
          <p:nvPr/>
        </p:nvSpPr>
        <p:spPr>
          <a:xfrm>
            <a:off x="3227832" y="4114800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0553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0EC21-9160-3BF1-A1B5-9ECF4109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610"/>
            <a:ext cx="10515600" cy="860921"/>
          </a:xfrm>
        </p:spPr>
        <p:txBody>
          <a:bodyPr/>
          <a:lstStyle/>
          <a:p>
            <a:r>
              <a:rPr lang="ru-RU" dirty="0"/>
              <a:t>Что является нарушениями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AF8366-547E-6ACD-C093-D1723367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0336"/>
            <a:ext cx="10515600" cy="4351338"/>
          </a:xfrm>
        </p:spPr>
        <p:txBody>
          <a:bodyPr/>
          <a:lstStyle/>
          <a:p>
            <a:r>
              <a:rPr lang="ru-RU" dirty="0"/>
              <a:t>Условий продажи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Пользовательского соглашения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0A4C59-8A78-0616-0FA1-3C6628B25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6480"/>
            <a:ext cx="12079224" cy="9933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49F00A-8828-323C-8166-15806E7C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4880"/>
            <a:ext cx="11734800" cy="13716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ED46C9B-B314-726C-F7B9-27716CF8C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7642"/>
            <a:ext cx="12192000" cy="172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270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1102</Words>
  <Application>Microsoft Office PowerPoint</Application>
  <PresentationFormat>Широкоэкранный</PresentationFormat>
  <Paragraphs>150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Тема Office</vt:lpstr>
      <vt:lpstr>Презентация PowerPoint</vt:lpstr>
      <vt:lpstr>1. Доказательства связи PlayerOK/CDSHOPVST с магазинами с Авито, GGSel и Plati.Market</vt:lpstr>
      <vt:lpstr>1.1 Доказательства связи между Авито и PlayerOK/CDSHOPVST </vt:lpstr>
      <vt:lpstr>1.2 Доказательства связи Plati.Market + GGSel с PlayerOK/CDSHOPVST и Авито</vt:lpstr>
      <vt:lpstr>Вывод по главе 1</vt:lpstr>
      <vt:lpstr>2. Доказательства того, что Playerok/VSTSHOP принадлежит тому же лицу, что и “группа CDSHOP”</vt:lpstr>
      <vt:lpstr>2.1 Фиктивная сделка между Playerok/CDSHOPVST и Playerok/VSTSHOP с целью накрутки отзыва  </vt:lpstr>
      <vt:lpstr>Приложение к 2.1</vt:lpstr>
      <vt:lpstr>2.2 Одинаковый ассортимент продавца Playerok/VSTSHOP и “группы CDSHOP”</vt:lpstr>
      <vt:lpstr>2.3 Одинаковое текстовое оформление товаров у Plati.Market и Playerok/VSTSHOP</vt:lpstr>
      <vt:lpstr>2.4 Практически идентичные названия у магазинов Playerok/VSTSHOP, GGSel и Plati.Market</vt:lpstr>
      <vt:lpstr>2.5 Одинаковый/почти одинаковый день начала продаж в категории Splice</vt:lpstr>
      <vt:lpstr>Итог по главе 2</vt:lpstr>
      <vt:lpstr>Согласны с доводами с прошлых слайдов?</vt:lpstr>
      <vt:lpstr>Что является нарушениями: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wius</dc:creator>
  <cp:lastModifiedBy>wius</cp:lastModifiedBy>
  <cp:revision>1</cp:revision>
  <dcterms:created xsi:type="dcterms:W3CDTF">2026-09-20T16:22:06Z</dcterms:created>
  <dcterms:modified xsi:type="dcterms:W3CDTF">2026-09-20T18:17:10Z</dcterms:modified>
</cp:coreProperties>
</file>